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lexandria SemiBold"/>
      <p:regular r:id="rId19"/>
      <p:bold r:id="rId20"/>
    </p:embeddedFont>
    <p:embeddedFont>
      <p:font typeface="Sora Ligh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SemiBold-bold.fntdata"/><Relationship Id="rId11" Type="http://schemas.openxmlformats.org/officeDocument/2006/relationships/slide" Target="slides/slide5.xml"/><Relationship Id="rId22" Type="http://schemas.openxmlformats.org/officeDocument/2006/relationships/font" Target="fonts/SoraLight-bold.fntdata"/><Relationship Id="rId10" Type="http://schemas.openxmlformats.org/officeDocument/2006/relationships/slide" Target="slides/slide4.xml"/><Relationship Id="rId21" Type="http://schemas.openxmlformats.org/officeDocument/2006/relationships/font" Target="fonts/SoraLight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AlexandriaSemiBold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9f017761e_3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e9f017761e_3_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9f017761e_3_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9f017761e_3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e9f017761e_3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9f017761e_3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9f017761e_3_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9f017761e_3_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9f017761e_3_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9f017761e_3_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9f017761e_3_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9f017761e_3_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9f017761e_3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e9f017761e_3_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9f017761e_3_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f017761e_3_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9f017761e_3_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9f017761e_3_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9f017761e_3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e9f017761e_3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9f017761e_3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9f01776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9f01776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9f017761e_3_1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e9f017761e_3_1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9f017761e_3_1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9f017761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9f017761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9f017761e_3_1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9f017761e_3_1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9f017761e_3_1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9f017761e_3_1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e9f017761e_3_1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9f017761e_3_1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28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5D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42" y="101426"/>
            <a:ext cx="3293715" cy="49405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5"/>
          <p:cNvSpPr/>
          <p:nvPr/>
        </p:nvSpPr>
        <p:spPr>
          <a:xfrm>
            <a:off x="3902943" y="1808038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lang="en" sz="2800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Ghép ảnh sử dụng CNN</a:t>
            </a:r>
            <a:endParaRPr b="0" i="0" sz="2800" u="none" cap="none" strike="noStrike"/>
          </a:p>
        </p:txBody>
      </p:sp>
      <p:sp>
        <p:nvSpPr>
          <p:cNvPr id="90" name="Google Shape;90;p25"/>
          <p:cNvSpPr/>
          <p:nvPr/>
        </p:nvSpPr>
        <p:spPr>
          <a:xfrm>
            <a:off x="3902943" y="2902000"/>
            <a:ext cx="4767114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t/>
            </a:r>
            <a:endParaRPr b="0" i="0" sz="1050" u="none" cap="none" strike="noStrike"/>
          </a:p>
        </p:txBody>
      </p:sp>
      <p:pic>
        <p:nvPicPr>
          <p:cNvPr id="91" name="Google Shape;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3475" y="4440088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5D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42" y="101426"/>
            <a:ext cx="3293715" cy="494057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6"/>
          <p:cNvSpPr/>
          <p:nvPr/>
        </p:nvSpPr>
        <p:spPr>
          <a:xfrm>
            <a:off x="3902943" y="837307"/>
            <a:ext cx="4632647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Bộ Dữ Liệu Huấn Luyện</a:t>
            </a:r>
            <a:endParaRPr b="0" i="0" sz="2800" u="none" cap="none" strike="noStrike"/>
          </a:p>
        </p:txBody>
      </p:sp>
      <p:sp>
        <p:nvSpPr>
          <p:cNvPr id="100" name="Google Shape;100;p26"/>
          <p:cNvSpPr/>
          <p:nvPr/>
        </p:nvSpPr>
        <p:spPr>
          <a:xfrm>
            <a:off x="3902943" y="1485826"/>
            <a:ext cx="2315840" cy="1667545"/>
          </a:xfrm>
          <a:prstGeom prst="roundRect">
            <a:avLst>
              <a:gd fmla="val 3411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6"/>
          <p:cNvSpPr/>
          <p:nvPr/>
        </p:nvSpPr>
        <p:spPr>
          <a:xfrm>
            <a:off x="4043065" y="1625947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Thách Thức</a:t>
            </a:r>
            <a:endParaRPr b="0" i="0" sz="1400" u="none" cap="none" strike="noStrike"/>
          </a:p>
        </p:txBody>
      </p:sp>
      <p:sp>
        <p:nvSpPr>
          <p:cNvPr id="102" name="Google Shape;102;p26"/>
          <p:cNvSpPr/>
          <p:nvPr/>
        </p:nvSpPr>
        <p:spPr>
          <a:xfrm>
            <a:off x="4043065" y="1929780"/>
            <a:ext cx="2035597" cy="108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Thu thập cặp ảnh thực có nhãn biến đổi hình học đòi hỏi đo đạc chính xác dịch chuyển 3D của camera — cực kỳ khó khăn.</a:t>
            </a:r>
            <a:endParaRPr b="0" i="0" sz="1050" u="none" cap="none" strike="noStrike"/>
          </a:p>
        </p:txBody>
      </p:sp>
      <p:sp>
        <p:nvSpPr>
          <p:cNvPr id="103" name="Google Shape;103;p26"/>
          <p:cNvSpPr/>
          <p:nvPr/>
        </p:nvSpPr>
        <p:spPr>
          <a:xfrm>
            <a:off x="6354142" y="1485826"/>
            <a:ext cx="2315914" cy="1667545"/>
          </a:xfrm>
          <a:prstGeom prst="roundRect">
            <a:avLst>
              <a:gd fmla="val 3411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6"/>
          <p:cNvSpPr/>
          <p:nvPr/>
        </p:nvSpPr>
        <p:spPr>
          <a:xfrm>
            <a:off x="6494264" y="1625947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Giải Pháp</a:t>
            </a:r>
            <a:endParaRPr b="0" i="0" sz="1400" u="none" cap="none" strike="noStrike"/>
          </a:p>
        </p:txBody>
      </p:sp>
      <p:sp>
        <p:nvSpPr>
          <p:cNvPr id="105" name="Google Shape;105;p26"/>
          <p:cNvSpPr/>
          <p:nvPr/>
        </p:nvSpPr>
        <p:spPr>
          <a:xfrm>
            <a:off x="6494264" y="1929780"/>
            <a:ext cx="2035671" cy="108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Sinh dữ liệu nhân tạo (Synthetic Data) với nhãn ground truth biết trước, đảm bảo mô hình không bị thiên lệch.</a:t>
            </a:r>
            <a:endParaRPr b="0" i="0" sz="1050" u="none" cap="none" strike="noStrike"/>
          </a:p>
        </p:txBody>
      </p:sp>
      <p:sp>
        <p:nvSpPr>
          <p:cNvPr id="106" name="Google Shape;106;p26"/>
          <p:cNvSpPr/>
          <p:nvPr/>
        </p:nvSpPr>
        <p:spPr>
          <a:xfrm>
            <a:off x="3902943" y="3288729"/>
            <a:ext cx="4767114" cy="1017463"/>
          </a:xfrm>
          <a:prstGeom prst="roundRect">
            <a:avLst>
              <a:gd fmla="val 5590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6"/>
          <p:cNvSpPr/>
          <p:nvPr/>
        </p:nvSpPr>
        <p:spPr>
          <a:xfrm>
            <a:off x="4043065" y="3428851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Nền Tảng</a:t>
            </a:r>
            <a:endParaRPr b="0" i="0" sz="1400" u="none" cap="none" strike="noStrike"/>
          </a:p>
        </p:txBody>
      </p:sp>
      <p:sp>
        <p:nvSpPr>
          <p:cNvPr id="108" name="Google Shape;108;p26"/>
          <p:cNvSpPr/>
          <p:nvPr/>
        </p:nvSpPr>
        <p:spPr>
          <a:xfrm>
            <a:off x="4043065" y="3732684"/>
            <a:ext cx="448687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Tập dữ liệu MS COCO — đa dạng thực thể tự nhiên — được chọn làm nền tảng, sử dụng tập con Train/Val đã phân chia sẵn.</a:t>
            </a:r>
            <a:endParaRPr b="0" i="0" sz="1050" u="none" cap="none" strike="noStrike"/>
          </a:p>
        </p:txBody>
      </p:sp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400" y="4441550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/>
          <p:nvPr/>
        </p:nvSpPr>
        <p:spPr>
          <a:xfrm>
            <a:off x="473943" y="768251"/>
            <a:ext cx="6659984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Bước 1: Trích Xuất Phân Mảnh Ảnh</a:t>
            </a:r>
            <a:endParaRPr b="0" i="0" sz="2800" u="none" cap="none" strike="noStrike"/>
          </a:p>
        </p:txBody>
      </p:sp>
      <p:pic>
        <p:nvPicPr>
          <p:cNvPr descr="preencoded.png" id="116" name="Google Shape;1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1569095"/>
            <a:ext cx="2653829" cy="265382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7"/>
          <p:cNvSpPr/>
          <p:nvPr/>
        </p:nvSpPr>
        <p:spPr>
          <a:xfrm>
            <a:off x="3462933" y="1812057"/>
            <a:ext cx="521181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Từ ảnh gốc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I_A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kích thước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 \times N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, trích xuất phân mảnh ngẫu nhiên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P_A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kích thước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128 \times 128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pixel.</a:t>
            </a:r>
            <a:endParaRPr b="0" i="0" sz="1050" u="none" cap="none" strike="noStrike"/>
          </a:p>
        </p:txBody>
      </p:sp>
      <p:sp>
        <p:nvSpPr>
          <p:cNvPr id="118" name="Google Shape;118;p27"/>
          <p:cNvSpPr/>
          <p:nvPr/>
        </p:nvSpPr>
        <p:spPr>
          <a:xfrm>
            <a:off x="3462933" y="2397770"/>
            <a:ext cx="5211812" cy="791989"/>
          </a:xfrm>
          <a:prstGeom prst="roundRect">
            <a:avLst>
              <a:gd fmla="val 7181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8292" y="2600846"/>
            <a:ext cx="169218" cy="135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/>
          <p:nvPr/>
        </p:nvSpPr>
        <p:spPr>
          <a:xfrm>
            <a:off x="3902869" y="2566913"/>
            <a:ext cx="4636517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Tọa độ đỉnh trên-trái </a:t>
            </a:r>
            <a:r>
              <a:rPr b="0" i="1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C_1 = (x_1, y_1)</a:t>
            </a:r>
            <a:r>
              <a:rPr b="0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 phải nằm trong </a:t>
            </a:r>
            <a:r>
              <a:rPr b="1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Vùng Tích Cực</a:t>
            </a:r>
            <a:r>
              <a:rPr b="0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 để tránh pixel đen do zero-padding sau warping:</a:t>
            </a:r>
            <a:endParaRPr b="0" i="0" sz="1050" u="none" cap="none" strike="noStrike"/>
          </a:p>
        </p:txBody>
      </p:sp>
      <p:sp>
        <p:nvSpPr>
          <p:cNvPr id="121" name="Google Shape;121;p27"/>
          <p:cNvSpPr/>
          <p:nvPr/>
        </p:nvSpPr>
        <p:spPr>
          <a:xfrm>
            <a:off x="3462933" y="3361134"/>
            <a:ext cx="5669012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</p:txBody>
      </p:sp>
      <p:pic>
        <p:nvPicPr>
          <p:cNvPr descr="preencoded.png" id="122" name="Google Shape;1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2933" y="3361134"/>
            <a:ext cx="5211812" cy="230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7"/>
          <p:cNvSpPr/>
          <p:nvPr/>
        </p:nvSpPr>
        <p:spPr>
          <a:xfrm>
            <a:off x="3462933" y="3763194"/>
            <a:ext cx="5669012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Tập 4 góc: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C_A = \{C_1, C_2, C_3, C_4\}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 b="0" i="0" sz="1050" u="none" cap="none" strike="noStrike"/>
          </a:p>
        </p:txBody>
      </p:sp>
      <p:pic>
        <p:nvPicPr>
          <p:cNvPr id="124" name="Google Shape;12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8225" y="4634199"/>
            <a:ext cx="1007634" cy="61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/>
          <p:nvPr/>
        </p:nvSpPr>
        <p:spPr>
          <a:xfrm>
            <a:off x="436885" y="345579"/>
            <a:ext cx="8270230" cy="821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550"/>
              <a:buFont typeface="Alexandria SemiBold"/>
              <a:buNone/>
            </a:pPr>
            <a:r>
              <a:rPr b="0" i="0" lang="en" sz="255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Bước 2 &amp; 3: Nhiễu Ngẫu Nhiên và Tạo Ảnh Biến Đổi</a:t>
            </a:r>
            <a:endParaRPr b="0" i="0" sz="2550" u="none" cap="none" strike="noStrike"/>
          </a:p>
        </p:txBody>
      </p:sp>
      <p:pic>
        <p:nvPicPr>
          <p:cNvPr descr="preencoded.png" id="131" name="Google Shape;1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274" y="1396975"/>
            <a:ext cx="4857378" cy="288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8"/>
          <p:cNvSpPr/>
          <p:nvPr/>
        </p:nvSpPr>
        <p:spPr>
          <a:xfrm>
            <a:off x="5524084" y="3482577"/>
            <a:ext cx="1207436" cy="489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Alexandria SemiBold"/>
              <a:buNone/>
            </a:pPr>
            <a:r>
              <a:rPr b="0" i="0" lang="en" sz="15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B3: Warp &amp; Trích Xuất</a:t>
            </a:r>
            <a:endParaRPr b="0" i="0" sz="1500" u="none" cap="none" strike="noStrike"/>
          </a:p>
        </p:txBody>
      </p:sp>
      <p:sp>
        <p:nvSpPr>
          <p:cNvPr id="133" name="Google Shape;133;p28"/>
          <p:cNvSpPr/>
          <p:nvPr/>
        </p:nvSpPr>
        <p:spPr>
          <a:xfrm>
            <a:off x="4002384" y="3482577"/>
            <a:ext cx="1207436" cy="489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Alexandria SemiBold"/>
              <a:buNone/>
            </a:pPr>
            <a:r>
              <a:rPr b="0" i="0" lang="en" sz="15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B2: Nghịch Đảo H</a:t>
            </a:r>
            <a:endParaRPr b="0" i="0" sz="1500" u="none" cap="none" strike="noStrike"/>
          </a:p>
        </p:txBody>
      </p:sp>
      <p:sp>
        <p:nvSpPr>
          <p:cNvPr id="134" name="Google Shape;134;p28"/>
          <p:cNvSpPr/>
          <p:nvPr/>
        </p:nvSpPr>
        <p:spPr>
          <a:xfrm>
            <a:off x="2455874" y="3482577"/>
            <a:ext cx="1207436" cy="489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00"/>
              <a:buFont typeface="Alexandria SemiBold"/>
              <a:buNone/>
            </a:pPr>
            <a:r>
              <a:rPr b="0" i="0" lang="en" sz="15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B1: Nhiễu 4 Góc</a:t>
            </a:r>
            <a:endParaRPr b="0" i="0" sz="1500" u="none" cap="none" strike="noStrike"/>
          </a:p>
        </p:txBody>
      </p:sp>
      <p:sp>
        <p:nvSpPr>
          <p:cNvPr id="135" name="Google Shape;135;p28"/>
          <p:cNvSpPr/>
          <p:nvPr/>
        </p:nvSpPr>
        <p:spPr>
          <a:xfrm>
            <a:off x="436885" y="4409256"/>
            <a:ext cx="827023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Nhờ tính chất đối ngẫu của ma trận nghịch đảo, phân mảnh </a:t>
            </a:r>
            <a:r>
              <a:rPr b="0" i="1" lang="en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P_B</a:t>
            </a:r>
            <a:r>
              <a:rPr b="0" i="0" lang="en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được trích xuất hoàn hảo từ </a:t>
            </a:r>
            <a:r>
              <a:rPr b="0" i="1" lang="en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I_B = \text{warp}(I_A, H_{BA})</a:t>
            </a:r>
            <a:r>
              <a:rPr b="0" i="0" lang="en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dưới dạng ma trận chữ nhật chuẩn — không pixel đen ở rìa.</a:t>
            </a:r>
            <a:endParaRPr b="0" i="0" sz="950" u="none" cap="none" strike="noStrike"/>
          </a:p>
        </p:txBody>
      </p:sp>
      <p:pic>
        <p:nvPicPr>
          <p:cNvPr id="136" name="Google Shape;1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9702" y="4638413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/>
          <p:nvPr/>
        </p:nvSpPr>
        <p:spPr>
          <a:xfrm>
            <a:off x="473943" y="768251"/>
            <a:ext cx="7845698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Cấu Trúc Dữ Liệu Đầu Ra — H4Pt Labeling</a:t>
            </a:r>
            <a:endParaRPr b="0" i="0" sz="2800" u="none" cap="none" strike="noStrike"/>
          </a:p>
        </p:txBody>
      </p:sp>
      <p:sp>
        <p:nvSpPr>
          <p:cNvPr id="143" name="Google Shape;143;p29"/>
          <p:cNvSpPr/>
          <p:nvPr/>
        </p:nvSpPr>
        <p:spPr>
          <a:xfrm>
            <a:off x="473943" y="1817861"/>
            <a:ext cx="22388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Đầu Vào Mạng</a:t>
            </a:r>
            <a:endParaRPr b="0" i="0" sz="1400" u="none" cap="none" strike="noStrike"/>
          </a:p>
        </p:txBody>
      </p:sp>
      <p:sp>
        <p:nvSpPr>
          <p:cNvPr id="144" name="Google Shape;144;p29"/>
          <p:cNvSpPr/>
          <p:nvPr/>
        </p:nvSpPr>
        <p:spPr>
          <a:xfrm>
            <a:off x="473943" y="2175867"/>
            <a:ext cx="521181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Hai phân mảnh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P_A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và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P_B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kích thước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M_P \times N_P \times K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được xếp chồng theo chiều sâu tạo Tensor duy nhất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M_P \times N_P \times 2K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 b="0" i="0" sz="1050" u="none" cap="none" strike="noStrike"/>
          </a:p>
        </p:txBody>
      </p:sp>
      <p:sp>
        <p:nvSpPr>
          <p:cNvPr id="145" name="Google Shape;145;p29"/>
          <p:cNvSpPr/>
          <p:nvPr/>
        </p:nvSpPr>
        <p:spPr>
          <a:xfrm>
            <a:off x="473943" y="2744614"/>
            <a:ext cx="22388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Nhãn H4Pt</a:t>
            </a:r>
            <a:endParaRPr b="0" i="0" sz="1400" u="none" cap="none" strike="noStrike"/>
          </a:p>
        </p:txBody>
      </p:sp>
      <p:sp>
        <p:nvSpPr>
          <p:cNvPr id="146" name="Google Shape;146;p29"/>
          <p:cNvSpPr/>
          <p:nvPr/>
        </p:nvSpPr>
        <p:spPr>
          <a:xfrm>
            <a:off x="473943" y="3102620"/>
            <a:ext cx="521181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Thay vì hồi quy 9 phần tử ma trận H (sai biệt độ lớn số học quá cao), mạng hồi quy </a:t>
            </a:r>
            <a:r>
              <a:rPr b="1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dịch chuyển 4 góc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:</a:t>
            </a:r>
            <a:endParaRPr b="0" i="0" sz="1050" u="none" cap="none" strike="noStrike"/>
          </a:p>
        </p:txBody>
      </p:sp>
      <p:sp>
        <p:nvSpPr>
          <p:cNvPr id="147" name="Google Shape;147;p29"/>
          <p:cNvSpPr/>
          <p:nvPr/>
        </p:nvSpPr>
        <p:spPr>
          <a:xfrm>
            <a:off x="473943" y="3707383"/>
            <a:ext cx="5669012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</p:txBody>
      </p:sp>
      <p:pic>
        <p:nvPicPr>
          <p:cNvPr descr="preencoded.png" id="148" name="Google Shape;1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3707383"/>
            <a:ext cx="5211812" cy="230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0916" y="1569095"/>
            <a:ext cx="2653829" cy="2653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2824" y="4516950"/>
            <a:ext cx="1169250" cy="7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5D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42" y="101426"/>
            <a:ext cx="3293715" cy="494057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/>
          <p:nvPr/>
        </p:nvSpPr>
        <p:spPr>
          <a:xfrm>
            <a:off x="3902943" y="512862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Pipeline Tổng Quan: 3 Giai Đoạn Cốt Lõi</a:t>
            </a:r>
            <a:endParaRPr b="0" i="0" sz="2800" u="none" cap="none" strike="noStrike"/>
          </a:p>
        </p:txBody>
      </p:sp>
      <p:pic>
        <p:nvPicPr>
          <p:cNvPr descr="preencoded.png" id="159" name="Google Shape;15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2943" y="1606823"/>
            <a:ext cx="677019" cy="100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/>
          <p:nvPr/>
        </p:nvSpPr>
        <p:spPr>
          <a:xfrm>
            <a:off x="4715321" y="1742182"/>
            <a:ext cx="202503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1. Ước Lượng Hình Học</a:t>
            </a:r>
            <a:endParaRPr b="0" i="0" sz="1400" u="none" cap="none" strike="noStrike"/>
          </a:p>
        </p:txBody>
      </p:sp>
      <p:sp>
        <p:nvSpPr>
          <p:cNvPr id="161" name="Google Shape;161;p30"/>
          <p:cNvSpPr/>
          <p:nvPr/>
        </p:nvSpPr>
        <p:spPr>
          <a:xfrm>
            <a:off x="4715321" y="2046015"/>
            <a:ext cx="395473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Tensor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P_A \oplus P_B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lan truyền qua HomographyNet → vector hồi quy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H4Pt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 b="0" i="0" sz="1050" u="none" cap="none" strike="noStrike"/>
          </a:p>
        </p:txBody>
      </p:sp>
      <p:pic>
        <p:nvPicPr>
          <p:cNvPr descr="preencoded.png" id="162" name="Google Shape;16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2943" y="2614761"/>
            <a:ext cx="677019" cy="100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/>
          <p:nvPr/>
        </p:nvSpPr>
        <p:spPr>
          <a:xfrm>
            <a:off x="4715321" y="2750121"/>
            <a:ext cx="1890564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2. Khôi Phục Ma Trận</a:t>
            </a:r>
            <a:endParaRPr b="0" i="0" sz="1400" u="none" cap="none" strike="noStrike"/>
          </a:p>
        </p:txBody>
      </p:sp>
      <p:sp>
        <p:nvSpPr>
          <p:cNvPr id="164" name="Google Shape;164;p30"/>
          <p:cNvSpPr/>
          <p:nvPr/>
        </p:nvSpPr>
        <p:spPr>
          <a:xfrm>
            <a:off x="4715321" y="3053953"/>
            <a:ext cx="395473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Bộ giải DLT ánh xạ ngược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H4Pt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thành ma trận phối cảnh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 \times 3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: </a:t>
            </a: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H = DLT(H4Pt)</a:t>
            </a: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 b="0" i="0" sz="1050" u="none" cap="none" strike="noStrike"/>
          </a:p>
        </p:txBody>
      </p:sp>
      <p:pic>
        <p:nvPicPr>
          <p:cNvPr descr="preencoded.png" id="165" name="Google Shape;16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2943" y="3622700"/>
            <a:ext cx="677019" cy="100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/>
          <p:nvPr/>
        </p:nvSpPr>
        <p:spPr>
          <a:xfrm>
            <a:off x="4715321" y="3758059"/>
            <a:ext cx="2268885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3. Nắn Chỉnh &amp; Ghép Ảnh</a:t>
            </a:r>
            <a:endParaRPr b="0" i="0" sz="1400" u="none" cap="none" strike="noStrike"/>
          </a:p>
        </p:txBody>
      </p:sp>
      <p:sp>
        <p:nvSpPr>
          <p:cNvPr id="167" name="Google Shape;167;p30"/>
          <p:cNvSpPr/>
          <p:nvPr/>
        </p:nvSpPr>
        <p:spPr>
          <a:xfrm>
            <a:off x="4715321" y="4061892"/>
            <a:ext cx="395473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Warp Perspective biến đổi ảnh thứ hai, sau đó Blending tại vùng chồng lấp → Output Panorama.</a:t>
            </a:r>
            <a:endParaRPr b="0" i="0" sz="1050" u="none" cap="none" strike="noStrike"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13925" y="4495275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/>
          <p:nvPr/>
        </p:nvSpPr>
        <p:spPr>
          <a:xfrm>
            <a:off x="473943" y="559147"/>
            <a:ext cx="5998890" cy="356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 SemiBold"/>
              <a:buNone/>
            </a:pPr>
            <a:r>
              <a:rPr b="0" i="0" lang="en" sz="22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Kiến Trúc Supervised HomographyNet</a:t>
            </a:r>
            <a:endParaRPr b="0" i="0" sz="2200" u="none" cap="none" strike="noStrike"/>
          </a:p>
        </p:txBody>
      </p:sp>
      <p:sp>
        <p:nvSpPr>
          <p:cNvPr id="175" name="Google Shape;175;p31"/>
          <p:cNvSpPr/>
          <p:nvPr/>
        </p:nvSpPr>
        <p:spPr>
          <a:xfrm>
            <a:off x="473943" y="1088752"/>
            <a:ext cx="865331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Kiến trúc hồi quy tuyến tính gồm chuỗi tầng tích chập xếp chồng — tổng cộng </a:t>
            </a:r>
            <a:r>
              <a:rPr b="1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9,028,136 tham số</a:t>
            </a: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có thể huấn luyện.</a:t>
            </a:r>
            <a:endParaRPr b="0" i="0" sz="850" u="none" cap="none" strike="noStrike"/>
          </a:p>
        </p:txBody>
      </p:sp>
      <p:sp>
        <p:nvSpPr>
          <p:cNvPr id="176" name="Google Shape;176;p31"/>
          <p:cNvSpPr/>
          <p:nvPr/>
        </p:nvSpPr>
        <p:spPr>
          <a:xfrm>
            <a:off x="473943" y="1342206"/>
            <a:ext cx="8196114" cy="3242072"/>
          </a:xfrm>
          <a:prstGeom prst="roundRect">
            <a:avLst>
              <a:gd fmla="val 1403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1"/>
          <p:cNvSpPr/>
          <p:nvPr/>
        </p:nvSpPr>
        <p:spPr>
          <a:xfrm>
            <a:off x="478706" y="1346969"/>
            <a:ext cx="8186589" cy="2693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/>
          <p:nvPr/>
        </p:nvSpPr>
        <p:spPr>
          <a:xfrm>
            <a:off x="587053" y="1403672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1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Tầng</a:t>
            </a:r>
            <a:endParaRPr b="0" i="0" sz="850" u="none" cap="none" strike="noStrike"/>
          </a:p>
        </p:txBody>
      </p:sp>
      <p:sp>
        <p:nvSpPr>
          <p:cNvPr id="179" name="Google Shape;179;p31"/>
          <p:cNvSpPr/>
          <p:nvPr/>
        </p:nvSpPr>
        <p:spPr>
          <a:xfrm>
            <a:off x="4273376" y="1403672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1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Output Shape</a:t>
            </a:r>
            <a:endParaRPr b="0" i="0" sz="850" u="none" cap="none" strike="noStrike"/>
          </a:p>
        </p:txBody>
      </p:sp>
      <p:sp>
        <p:nvSpPr>
          <p:cNvPr id="180" name="Google Shape;180;p31"/>
          <p:cNvSpPr/>
          <p:nvPr/>
        </p:nvSpPr>
        <p:spPr>
          <a:xfrm>
            <a:off x="6729338" y="1403672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1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Bộ Lọc</a:t>
            </a:r>
            <a:endParaRPr b="0" i="0" sz="850" u="none" cap="none" strike="noStrike"/>
          </a:p>
        </p:txBody>
      </p:sp>
      <p:sp>
        <p:nvSpPr>
          <p:cNvPr id="181" name="Google Shape;181;p31"/>
          <p:cNvSpPr/>
          <p:nvPr/>
        </p:nvSpPr>
        <p:spPr>
          <a:xfrm>
            <a:off x="478706" y="1616348"/>
            <a:ext cx="8186589" cy="26937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>
            <a:off x="587053" y="1673051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Input</a:t>
            </a:r>
            <a:endParaRPr b="0" i="0" sz="850" u="none" cap="none" strike="noStrike"/>
          </a:p>
        </p:txBody>
      </p:sp>
      <p:sp>
        <p:nvSpPr>
          <p:cNvPr id="183" name="Google Shape;183;p31"/>
          <p:cNvSpPr/>
          <p:nvPr/>
        </p:nvSpPr>
        <p:spPr>
          <a:xfrm>
            <a:off x="4273376" y="1673051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(128, 128, 2)</a:t>
            </a:r>
            <a:endParaRPr b="0" i="0" sz="850" u="none" cap="none" strike="noStrike"/>
          </a:p>
        </p:txBody>
      </p:sp>
      <p:sp>
        <p:nvSpPr>
          <p:cNvPr id="184" name="Google Shape;184;p31"/>
          <p:cNvSpPr/>
          <p:nvPr/>
        </p:nvSpPr>
        <p:spPr>
          <a:xfrm>
            <a:off x="6729338" y="1673051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—</a:t>
            </a:r>
            <a:endParaRPr b="0" i="0" sz="850" u="none" cap="none" strike="noStrike"/>
          </a:p>
        </p:txBody>
      </p:sp>
      <p:sp>
        <p:nvSpPr>
          <p:cNvPr id="185" name="Google Shape;185;p31"/>
          <p:cNvSpPr/>
          <p:nvPr/>
        </p:nvSpPr>
        <p:spPr>
          <a:xfrm>
            <a:off x="478706" y="1885727"/>
            <a:ext cx="8186589" cy="2693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587053" y="1942430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Conv2D_1–2 + BN</a:t>
            </a:r>
            <a:endParaRPr b="0" i="0" sz="850" u="none" cap="none" strike="noStrike"/>
          </a:p>
        </p:txBody>
      </p:sp>
      <p:sp>
        <p:nvSpPr>
          <p:cNvPr id="187" name="Google Shape;187;p31"/>
          <p:cNvSpPr/>
          <p:nvPr/>
        </p:nvSpPr>
        <p:spPr>
          <a:xfrm>
            <a:off x="4273376" y="1942430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(128, 128, 64)</a:t>
            </a:r>
            <a:endParaRPr b="0" i="0" sz="850" u="none" cap="none" strike="noStrike"/>
          </a:p>
        </p:txBody>
      </p:sp>
      <p:sp>
        <p:nvSpPr>
          <p:cNvPr id="188" name="Google Shape;188;p31"/>
          <p:cNvSpPr/>
          <p:nvPr/>
        </p:nvSpPr>
        <p:spPr>
          <a:xfrm>
            <a:off x="6729338" y="1942430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3×3, Stride 1</a:t>
            </a:r>
            <a:endParaRPr b="0" i="0" sz="850" u="none" cap="none" strike="noStrike"/>
          </a:p>
        </p:txBody>
      </p:sp>
      <p:sp>
        <p:nvSpPr>
          <p:cNvPr id="189" name="Google Shape;189;p31"/>
          <p:cNvSpPr/>
          <p:nvPr/>
        </p:nvSpPr>
        <p:spPr>
          <a:xfrm>
            <a:off x="478706" y="2155106"/>
            <a:ext cx="8186589" cy="26937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/>
          <p:nvPr/>
        </p:nvSpPr>
        <p:spPr>
          <a:xfrm>
            <a:off x="587053" y="2211809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Max_Pooling2D_1</a:t>
            </a:r>
            <a:endParaRPr b="0" i="0" sz="850" u="none" cap="none" strike="noStrike"/>
          </a:p>
        </p:txBody>
      </p:sp>
      <p:sp>
        <p:nvSpPr>
          <p:cNvPr id="191" name="Google Shape;191;p31"/>
          <p:cNvSpPr/>
          <p:nvPr/>
        </p:nvSpPr>
        <p:spPr>
          <a:xfrm>
            <a:off x="4273376" y="2211809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(64, 64, 64)</a:t>
            </a:r>
            <a:endParaRPr b="0" i="0" sz="850" u="none" cap="none" strike="noStrike"/>
          </a:p>
        </p:txBody>
      </p:sp>
      <p:sp>
        <p:nvSpPr>
          <p:cNvPr id="192" name="Google Shape;192;p31"/>
          <p:cNvSpPr/>
          <p:nvPr/>
        </p:nvSpPr>
        <p:spPr>
          <a:xfrm>
            <a:off x="6729338" y="2211809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2×2, Stride 2</a:t>
            </a:r>
            <a:endParaRPr b="0" i="0" sz="850" u="none" cap="none" strike="noStrike"/>
          </a:p>
        </p:txBody>
      </p:sp>
      <p:sp>
        <p:nvSpPr>
          <p:cNvPr id="193" name="Google Shape;193;p31"/>
          <p:cNvSpPr/>
          <p:nvPr/>
        </p:nvSpPr>
        <p:spPr>
          <a:xfrm>
            <a:off x="478706" y="2424485"/>
            <a:ext cx="8186589" cy="2693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587053" y="2481188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Conv2D_3–4 + BN</a:t>
            </a:r>
            <a:endParaRPr b="0" i="0" sz="850" u="none" cap="none" strike="noStrike"/>
          </a:p>
        </p:txBody>
      </p:sp>
      <p:sp>
        <p:nvSpPr>
          <p:cNvPr id="195" name="Google Shape;195;p31"/>
          <p:cNvSpPr/>
          <p:nvPr/>
        </p:nvSpPr>
        <p:spPr>
          <a:xfrm>
            <a:off x="4273376" y="2481188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(64, 64, 64)</a:t>
            </a:r>
            <a:endParaRPr b="0" i="0" sz="850" u="none" cap="none" strike="noStrike"/>
          </a:p>
        </p:txBody>
      </p:sp>
      <p:sp>
        <p:nvSpPr>
          <p:cNvPr id="196" name="Google Shape;196;p31"/>
          <p:cNvSpPr/>
          <p:nvPr/>
        </p:nvSpPr>
        <p:spPr>
          <a:xfrm>
            <a:off x="6729338" y="2481188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3×3, Stride 1</a:t>
            </a:r>
            <a:endParaRPr b="0" i="0" sz="850" u="none" cap="none" strike="noStrike"/>
          </a:p>
        </p:txBody>
      </p:sp>
      <p:sp>
        <p:nvSpPr>
          <p:cNvPr id="197" name="Google Shape;197;p31"/>
          <p:cNvSpPr/>
          <p:nvPr/>
        </p:nvSpPr>
        <p:spPr>
          <a:xfrm>
            <a:off x="478706" y="2693863"/>
            <a:ext cx="8186589" cy="26937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1"/>
          <p:cNvSpPr/>
          <p:nvPr/>
        </p:nvSpPr>
        <p:spPr>
          <a:xfrm>
            <a:off x="587053" y="2750567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Max_Pooling2D_2</a:t>
            </a:r>
            <a:endParaRPr b="0" i="0" sz="850" u="none" cap="none" strike="noStrike"/>
          </a:p>
        </p:txBody>
      </p:sp>
      <p:sp>
        <p:nvSpPr>
          <p:cNvPr id="199" name="Google Shape;199;p31"/>
          <p:cNvSpPr/>
          <p:nvPr/>
        </p:nvSpPr>
        <p:spPr>
          <a:xfrm>
            <a:off x="4273376" y="2750567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(32, 32, 64)</a:t>
            </a:r>
            <a:endParaRPr b="0" i="0" sz="850" u="none" cap="none" strike="noStrike"/>
          </a:p>
        </p:txBody>
      </p:sp>
      <p:sp>
        <p:nvSpPr>
          <p:cNvPr id="200" name="Google Shape;200;p31"/>
          <p:cNvSpPr/>
          <p:nvPr/>
        </p:nvSpPr>
        <p:spPr>
          <a:xfrm>
            <a:off x="6729338" y="2750567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2×2, Stride 2</a:t>
            </a:r>
            <a:endParaRPr b="0" i="0" sz="850" u="none" cap="none" strike="noStrike"/>
          </a:p>
        </p:txBody>
      </p:sp>
      <p:sp>
        <p:nvSpPr>
          <p:cNvPr id="201" name="Google Shape;201;p31"/>
          <p:cNvSpPr/>
          <p:nvPr/>
        </p:nvSpPr>
        <p:spPr>
          <a:xfrm>
            <a:off x="478706" y="2963242"/>
            <a:ext cx="8186589" cy="2693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587053" y="3019946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Conv2D_5–6 + BN</a:t>
            </a:r>
            <a:endParaRPr b="0" i="0" sz="850" u="none" cap="none" strike="noStrike"/>
          </a:p>
        </p:txBody>
      </p:sp>
      <p:sp>
        <p:nvSpPr>
          <p:cNvPr id="203" name="Google Shape;203;p31"/>
          <p:cNvSpPr/>
          <p:nvPr/>
        </p:nvSpPr>
        <p:spPr>
          <a:xfrm>
            <a:off x="4273376" y="3019946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(32, 32, 128)</a:t>
            </a:r>
            <a:endParaRPr b="0" i="0" sz="850" u="none" cap="none" strike="noStrike"/>
          </a:p>
        </p:txBody>
      </p:sp>
      <p:sp>
        <p:nvSpPr>
          <p:cNvPr id="204" name="Google Shape;204;p31"/>
          <p:cNvSpPr/>
          <p:nvPr/>
        </p:nvSpPr>
        <p:spPr>
          <a:xfrm>
            <a:off x="6729338" y="3019946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3×3, Stride 1</a:t>
            </a:r>
            <a:endParaRPr b="0" i="0" sz="850" u="none" cap="none" strike="noStrike"/>
          </a:p>
        </p:txBody>
      </p:sp>
      <p:sp>
        <p:nvSpPr>
          <p:cNvPr id="205" name="Google Shape;205;p31"/>
          <p:cNvSpPr/>
          <p:nvPr/>
        </p:nvSpPr>
        <p:spPr>
          <a:xfrm>
            <a:off x="478706" y="3232621"/>
            <a:ext cx="8186589" cy="26937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587053" y="3289325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Max_Pooling2D_3</a:t>
            </a:r>
            <a:endParaRPr b="0" i="0" sz="850" u="none" cap="none" strike="noStrike"/>
          </a:p>
        </p:txBody>
      </p:sp>
      <p:sp>
        <p:nvSpPr>
          <p:cNvPr id="207" name="Google Shape;207;p31"/>
          <p:cNvSpPr/>
          <p:nvPr/>
        </p:nvSpPr>
        <p:spPr>
          <a:xfrm>
            <a:off x="4273376" y="3289325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(16, 16, 128)</a:t>
            </a:r>
            <a:endParaRPr b="0" i="0" sz="850" u="none" cap="none" strike="noStrike"/>
          </a:p>
        </p:txBody>
      </p:sp>
      <p:sp>
        <p:nvSpPr>
          <p:cNvPr id="208" name="Google Shape;208;p31"/>
          <p:cNvSpPr/>
          <p:nvPr/>
        </p:nvSpPr>
        <p:spPr>
          <a:xfrm>
            <a:off x="6729338" y="3289325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2×2, Stride 2</a:t>
            </a:r>
            <a:endParaRPr b="0" i="0" sz="850" u="none" cap="none" strike="noStrike"/>
          </a:p>
        </p:txBody>
      </p:sp>
      <p:sp>
        <p:nvSpPr>
          <p:cNvPr id="209" name="Google Shape;209;p31"/>
          <p:cNvSpPr/>
          <p:nvPr/>
        </p:nvSpPr>
        <p:spPr>
          <a:xfrm>
            <a:off x="478706" y="3502000"/>
            <a:ext cx="8186589" cy="2693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/>
          <p:nvPr/>
        </p:nvSpPr>
        <p:spPr>
          <a:xfrm>
            <a:off x="587053" y="3558704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Conv2D_7–8 + BN</a:t>
            </a:r>
            <a:endParaRPr b="0" i="0" sz="850" u="none" cap="none" strike="noStrike"/>
          </a:p>
        </p:txBody>
      </p:sp>
      <p:sp>
        <p:nvSpPr>
          <p:cNvPr id="211" name="Google Shape;211;p31"/>
          <p:cNvSpPr/>
          <p:nvPr/>
        </p:nvSpPr>
        <p:spPr>
          <a:xfrm>
            <a:off x="4273376" y="3558704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(16, 16, 128)</a:t>
            </a:r>
            <a:endParaRPr b="0" i="0" sz="850" u="none" cap="none" strike="noStrike"/>
          </a:p>
        </p:txBody>
      </p:sp>
      <p:sp>
        <p:nvSpPr>
          <p:cNvPr id="212" name="Google Shape;212;p31"/>
          <p:cNvSpPr/>
          <p:nvPr/>
        </p:nvSpPr>
        <p:spPr>
          <a:xfrm>
            <a:off x="6729338" y="3558704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3×3, Stride 1</a:t>
            </a:r>
            <a:endParaRPr b="0" i="0" sz="850" u="none" cap="none" strike="noStrike"/>
          </a:p>
        </p:txBody>
      </p:sp>
      <p:sp>
        <p:nvSpPr>
          <p:cNvPr id="213" name="Google Shape;213;p31"/>
          <p:cNvSpPr/>
          <p:nvPr/>
        </p:nvSpPr>
        <p:spPr>
          <a:xfrm>
            <a:off x="478706" y="3771379"/>
            <a:ext cx="8186589" cy="26937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1"/>
          <p:cNvSpPr/>
          <p:nvPr/>
        </p:nvSpPr>
        <p:spPr>
          <a:xfrm>
            <a:off x="587053" y="3828083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Max_Pooling2D_4</a:t>
            </a:r>
            <a:endParaRPr b="0" i="0" sz="850" u="none" cap="none" strike="noStrike"/>
          </a:p>
        </p:txBody>
      </p:sp>
      <p:sp>
        <p:nvSpPr>
          <p:cNvPr id="215" name="Google Shape;215;p31"/>
          <p:cNvSpPr/>
          <p:nvPr/>
        </p:nvSpPr>
        <p:spPr>
          <a:xfrm>
            <a:off x="4273376" y="3828083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(8, 8, 128)</a:t>
            </a:r>
            <a:endParaRPr b="0" i="0" sz="850" u="none" cap="none" strike="noStrike"/>
          </a:p>
        </p:txBody>
      </p:sp>
      <p:sp>
        <p:nvSpPr>
          <p:cNvPr id="216" name="Google Shape;216;p31"/>
          <p:cNvSpPr/>
          <p:nvPr/>
        </p:nvSpPr>
        <p:spPr>
          <a:xfrm>
            <a:off x="6729338" y="3828083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2×2, Stride 2</a:t>
            </a:r>
            <a:endParaRPr b="0" i="0" sz="850" u="none" cap="none" strike="noStrike"/>
          </a:p>
        </p:txBody>
      </p:sp>
      <p:sp>
        <p:nvSpPr>
          <p:cNvPr id="217" name="Google Shape;217;p31"/>
          <p:cNvSpPr/>
          <p:nvPr/>
        </p:nvSpPr>
        <p:spPr>
          <a:xfrm>
            <a:off x="478706" y="4040758"/>
            <a:ext cx="8186589" cy="26937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1"/>
          <p:cNvSpPr/>
          <p:nvPr/>
        </p:nvSpPr>
        <p:spPr>
          <a:xfrm>
            <a:off x="587053" y="4097462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Flatten → Dense_1 → Dropout(0.5)</a:t>
            </a:r>
            <a:endParaRPr b="0" i="0" sz="850" u="none" cap="none" strike="noStrike"/>
          </a:p>
        </p:txBody>
      </p:sp>
      <p:sp>
        <p:nvSpPr>
          <p:cNvPr id="219" name="Google Shape;219;p31"/>
          <p:cNvSpPr/>
          <p:nvPr/>
        </p:nvSpPr>
        <p:spPr>
          <a:xfrm>
            <a:off x="4273376" y="4097462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8192 → 1024</a:t>
            </a:r>
            <a:endParaRPr b="0" i="0" sz="850" u="none" cap="none" strike="noStrike"/>
          </a:p>
        </p:txBody>
      </p:sp>
      <p:sp>
        <p:nvSpPr>
          <p:cNvPr id="220" name="Google Shape;220;p31"/>
          <p:cNvSpPr/>
          <p:nvPr/>
        </p:nvSpPr>
        <p:spPr>
          <a:xfrm>
            <a:off x="6729338" y="4097462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—</a:t>
            </a:r>
            <a:endParaRPr b="0" i="0" sz="850" u="none" cap="none" strike="noStrike"/>
          </a:p>
        </p:txBody>
      </p:sp>
      <p:sp>
        <p:nvSpPr>
          <p:cNvPr id="221" name="Google Shape;221;p31"/>
          <p:cNvSpPr/>
          <p:nvPr/>
        </p:nvSpPr>
        <p:spPr>
          <a:xfrm>
            <a:off x="478706" y="4310137"/>
            <a:ext cx="8186589" cy="26937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"/>
          <p:cNvSpPr/>
          <p:nvPr/>
        </p:nvSpPr>
        <p:spPr>
          <a:xfrm>
            <a:off x="587053" y="4366840"/>
            <a:ext cx="3922216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Dense_Output (Regression)</a:t>
            </a:r>
            <a:endParaRPr b="0" i="0" sz="850" u="none" cap="none" strike="noStrike"/>
          </a:p>
        </p:txBody>
      </p:sp>
      <p:sp>
        <p:nvSpPr>
          <p:cNvPr id="223" name="Google Shape;223;p31"/>
          <p:cNvSpPr/>
          <p:nvPr/>
        </p:nvSpPr>
        <p:spPr>
          <a:xfrm>
            <a:off x="4273376" y="4366840"/>
            <a:ext cx="269185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(8)</a:t>
            </a:r>
            <a:endParaRPr b="0" i="0" sz="850" u="none" cap="none" strike="noStrike"/>
          </a:p>
        </p:txBody>
      </p:sp>
      <p:sp>
        <p:nvSpPr>
          <p:cNvPr id="224" name="Google Shape;224;p31"/>
          <p:cNvSpPr/>
          <p:nvPr/>
        </p:nvSpPr>
        <p:spPr>
          <a:xfrm>
            <a:off x="6729338" y="4366840"/>
            <a:ext cx="2284884" cy="155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—</a:t>
            </a:r>
            <a:endParaRPr b="0" i="0" sz="850" u="none" cap="none" strike="noStrike"/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75" y="4741450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25" y="1063251"/>
            <a:ext cx="6926199" cy="32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2900" y="4544100"/>
            <a:ext cx="1241101" cy="75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/>
          <p:nvPr/>
        </p:nvSpPr>
        <p:spPr>
          <a:xfrm>
            <a:off x="473943" y="768251"/>
            <a:ext cx="7998544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Giám Sát Hàm Mất Mát — Supervised CNN</a:t>
            </a:r>
            <a:endParaRPr b="0" i="0" sz="2800" u="none" cap="none" strike="noStrike"/>
          </a:p>
        </p:txBody>
      </p:sp>
      <p:sp>
        <p:nvSpPr>
          <p:cNvPr id="238" name="Google Shape;238;p33"/>
          <p:cNvSpPr/>
          <p:nvPr/>
        </p:nvSpPr>
        <p:spPr>
          <a:xfrm>
            <a:off x="3462933" y="1605186"/>
            <a:ext cx="356875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Đánh giá qua 80 Epoch (MSE Loss)</a:t>
            </a:r>
            <a:endParaRPr b="0" i="0" sz="1400" u="none" cap="none" strike="noStrike"/>
          </a:p>
        </p:txBody>
      </p:sp>
      <p:sp>
        <p:nvSpPr>
          <p:cNvPr id="239" name="Google Shape;239;p33"/>
          <p:cNvSpPr/>
          <p:nvPr/>
        </p:nvSpPr>
        <p:spPr>
          <a:xfrm>
            <a:off x="3462933" y="1980158"/>
            <a:ext cx="1647006" cy="2189634"/>
          </a:xfrm>
          <a:prstGeom prst="roundRect">
            <a:avLst>
              <a:gd fmla="val 5552" name="adj"/>
            </a:avLst>
          </a:prstGeom>
          <a:solidFill>
            <a:srgbClr val="FFFAFA"/>
          </a:solidFill>
          <a:ln cap="flat" cmpd="sng" w="190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3"/>
          <p:cNvSpPr/>
          <p:nvPr/>
        </p:nvSpPr>
        <p:spPr>
          <a:xfrm>
            <a:off x="3443883" y="1980158"/>
            <a:ext cx="76200" cy="2189634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3674492" y="2134567"/>
            <a:ext cx="1281038" cy="44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Epoch 1–10: Hội tụ nhanh</a:t>
            </a:r>
            <a:endParaRPr b="0" i="0" sz="1400" u="none" cap="none" strike="noStrike"/>
          </a:p>
        </p:txBody>
      </p:sp>
      <p:sp>
        <p:nvSpPr>
          <p:cNvPr id="242" name="Google Shape;242;p33"/>
          <p:cNvSpPr/>
          <p:nvPr/>
        </p:nvSpPr>
        <p:spPr>
          <a:xfrm>
            <a:off x="3674492" y="2715220"/>
            <a:ext cx="1281038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Sai số giảm mạnh theo hàm mũ — AdamW phân bổ trọng số hiệu quả cho bài toán hồi quy tọa độ góc.</a:t>
            </a:r>
            <a:endParaRPr b="0" i="0" sz="1050" u="none" cap="none" strike="noStrike"/>
          </a:p>
        </p:txBody>
      </p:sp>
      <p:sp>
        <p:nvSpPr>
          <p:cNvPr id="243" name="Google Shape;243;p33"/>
          <p:cNvSpPr/>
          <p:nvPr/>
        </p:nvSpPr>
        <p:spPr>
          <a:xfrm>
            <a:off x="5245298" y="1980158"/>
            <a:ext cx="1647006" cy="2189634"/>
          </a:xfrm>
          <a:prstGeom prst="roundRect">
            <a:avLst>
              <a:gd fmla="val 5552" name="adj"/>
            </a:avLst>
          </a:prstGeom>
          <a:solidFill>
            <a:srgbClr val="FFFAFA"/>
          </a:solidFill>
          <a:ln cap="flat" cmpd="sng" w="190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5226248" y="1980158"/>
            <a:ext cx="76200" cy="2189634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"/>
          <p:cNvSpPr/>
          <p:nvPr/>
        </p:nvSpPr>
        <p:spPr>
          <a:xfrm>
            <a:off x="5456858" y="2134567"/>
            <a:ext cx="1281038" cy="44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Sau Epoch 40: Ổn định</a:t>
            </a:r>
            <a:endParaRPr b="0" i="0" sz="1400" u="none" cap="none" strike="noStrike"/>
          </a:p>
        </p:txBody>
      </p:sp>
      <p:sp>
        <p:nvSpPr>
          <p:cNvPr id="246" name="Google Shape;246;p33"/>
          <p:cNvSpPr/>
          <p:nvPr/>
        </p:nvSpPr>
        <p:spPr>
          <a:xfrm>
            <a:off x="5456858" y="2715220"/>
            <a:ext cx="1281038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Validation Loss bám sát Training Loss, không phân kỳ — Dropout 50% kiểm soát tốt Overfitting.</a:t>
            </a:r>
            <a:endParaRPr b="0" i="0" sz="1050" u="none" cap="none" strike="noStrike"/>
          </a:p>
        </p:txBody>
      </p:sp>
      <p:sp>
        <p:nvSpPr>
          <p:cNvPr id="247" name="Google Shape;247;p33"/>
          <p:cNvSpPr/>
          <p:nvPr/>
        </p:nvSpPr>
        <p:spPr>
          <a:xfrm>
            <a:off x="7027664" y="1980158"/>
            <a:ext cx="1647081" cy="2189634"/>
          </a:xfrm>
          <a:prstGeom prst="roundRect">
            <a:avLst>
              <a:gd fmla="val 5552" name="adj"/>
            </a:avLst>
          </a:prstGeom>
          <a:solidFill>
            <a:srgbClr val="FFFAFA"/>
          </a:solidFill>
          <a:ln cap="flat" cmpd="sng" w="190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7008614" y="1980158"/>
            <a:ext cx="76200" cy="2189634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/>
          <p:nvPr/>
        </p:nvSpPr>
        <p:spPr>
          <a:xfrm>
            <a:off x="7239223" y="2134567"/>
            <a:ext cx="128111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Nhận Xét</a:t>
            </a:r>
            <a:endParaRPr b="0" i="0" sz="1400" u="none" cap="none" strike="noStrike"/>
          </a:p>
        </p:txBody>
      </p:sp>
      <p:sp>
        <p:nvSpPr>
          <p:cNvPr id="250" name="Google Shape;250;p33"/>
          <p:cNvSpPr/>
          <p:nvPr/>
        </p:nvSpPr>
        <p:spPr>
          <a:xfrm>
            <a:off x="7239223" y="2492573"/>
            <a:ext cx="1281113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Xuất hiện mờ nhòe cục bộ tại vùng biên do loss nhạy cảm với thay đổi ánh sáng đột ngột giữa hai camera.</a:t>
            </a:r>
            <a:endParaRPr b="0" i="0" sz="1050" u="none" cap="none" strike="noStrike"/>
          </a:p>
        </p:txBody>
      </p:sp>
      <p:pic>
        <p:nvPicPr>
          <p:cNvPr id="251" name="Google Shape;2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75" y="1827819"/>
            <a:ext cx="3139083" cy="2376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6300" y="4606603"/>
            <a:ext cx="1037695" cy="634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4" title="HomographyNetUns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50" y="59950"/>
            <a:ext cx="797977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4125" y="4667500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5D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5"/>
          <p:cNvSpPr/>
          <p:nvPr/>
        </p:nvSpPr>
        <p:spPr>
          <a:xfrm>
            <a:off x="3902943" y="475506"/>
            <a:ext cx="5130180" cy="378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350"/>
              <a:buFont typeface="Alexandria SemiBold"/>
              <a:buNone/>
            </a:pPr>
            <a:r>
              <a:rPr b="0" i="0" lang="en" sz="235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Phương Pháp Không Giám Sát</a:t>
            </a:r>
            <a:endParaRPr b="0" i="0" sz="2350" u="none" cap="none" strike="noStrike"/>
          </a:p>
        </p:txBody>
      </p:sp>
      <p:sp>
        <p:nvSpPr>
          <p:cNvPr id="266" name="Google Shape;266;p35"/>
          <p:cNvSpPr/>
          <p:nvPr/>
        </p:nvSpPr>
        <p:spPr>
          <a:xfrm>
            <a:off x="3902943" y="1000795"/>
            <a:ext cx="4767114" cy="340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00"/>
              <a:buFont typeface="Sora Light"/>
              <a:buNone/>
            </a:pP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Tối ưu trọng số dựa trên </a:t>
            </a:r>
            <a:r>
              <a:rPr b="1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độ tương đồng phân bố pixel</a:t>
            </a: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thay vì nhãn tọa độ — giải quyết bài toán thu thập Ground Truth tốn kém.</a:t>
            </a:r>
            <a:endParaRPr b="0" i="0" sz="900" u="none" cap="none" strike="noStrike"/>
          </a:p>
        </p:txBody>
      </p:sp>
      <p:sp>
        <p:nvSpPr>
          <p:cNvPr id="267" name="Google Shape;267;p35"/>
          <p:cNvSpPr/>
          <p:nvPr/>
        </p:nvSpPr>
        <p:spPr>
          <a:xfrm>
            <a:off x="3902943" y="1861468"/>
            <a:ext cx="1998315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50"/>
              <a:buFont typeface="Alexandria SemiBold"/>
              <a:buNone/>
            </a:pPr>
            <a:r>
              <a:rPr b="0" i="0" lang="en" sz="115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CNN Trích Xuất Đặc Trưng</a:t>
            </a:r>
            <a:endParaRPr b="0" i="0" sz="1150" u="none" cap="none" strike="noStrike"/>
          </a:p>
        </p:txBody>
      </p:sp>
      <p:sp>
        <p:nvSpPr>
          <p:cNvPr id="268" name="Google Shape;268;p35"/>
          <p:cNvSpPr/>
          <p:nvPr/>
        </p:nvSpPr>
        <p:spPr>
          <a:xfrm>
            <a:off x="3902943" y="2109341"/>
            <a:ext cx="4767114" cy="170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00"/>
              <a:buFont typeface="Sora Light"/>
              <a:buNone/>
            </a:pP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Khối Conv2D + ReLU + BatchNorm xếp chồng; Max-Pooling giảm chiều không gian.</a:t>
            </a:r>
            <a:endParaRPr b="0" i="0" sz="900" u="none" cap="none" strike="noStrike"/>
          </a:p>
        </p:txBody>
      </p:sp>
      <p:sp>
        <p:nvSpPr>
          <p:cNvPr id="269" name="Google Shape;269;p35"/>
          <p:cNvSpPr/>
          <p:nvPr/>
        </p:nvSpPr>
        <p:spPr>
          <a:xfrm>
            <a:off x="3902943" y="2885256"/>
            <a:ext cx="1514475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50"/>
              <a:buFont typeface="Alexandria SemiBold"/>
              <a:buNone/>
            </a:pPr>
            <a:r>
              <a:rPr b="0" i="0" lang="en" sz="115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FCN Hồi Quy</a:t>
            </a:r>
            <a:endParaRPr b="0" i="0" sz="1150" u="none" cap="none" strike="noStrike"/>
          </a:p>
        </p:txBody>
      </p:sp>
      <p:sp>
        <p:nvSpPr>
          <p:cNvPr id="270" name="Google Shape;270;p35"/>
          <p:cNvSpPr/>
          <p:nvPr/>
        </p:nvSpPr>
        <p:spPr>
          <a:xfrm>
            <a:off x="3902943" y="3133130"/>
            <a:ext cx="4767114" cy="340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00"/>
              <a:buFont typeface="Sora Light"/>
              <a:buNone/>
            </a:pP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Flatten → 2 tầng Dense + ReLU + Dropout → 8 nơ-ron đầu ra, reshape thành ma trận </a:t>
            </a:r>
            <a:r>
              <a:rPr b="0" i="1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4 \times 2</a:t>
            </a: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(</a:t>
            </a:r>
            <a:r>
              <a:rPr b="0" i="1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\delta</a:t>
            </a: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).</a:t>
            </a:r>
            <a:endParaRPr b="0" i="0" sz="900" u="none" cap="none" strike="noStrike"/>
          </a:p>
        </p:txBody>
      </p:sp>
      <p:sp>
        <p:nvSpPr>
          <p:cNvPr id="271" name="Google Shape;271;p35"/>
          <p:cNvSpPr/>
          <p:nvPr/>
        </p:nvSpPr>
        <p:spPr>
          <a:xfrm>
            <a:off x="3902943" y="4079379"/>
            <a:ext cx="1999878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50"/>
              <a:buFont typeface="Alexandria SemiBold"/>
              <a:buNone/>
            </a:pPr>
            <a:r>
              <a:rPr b="0" i="0" lang="en" sz="115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Khối Warp Khả Vi (Kornia)</a:t>
            </a:r>
            <a:endParaRPr b="0" i="0" sz="1150" u="none" cap="none" strike="noStrike"/>
          </a:p>
        </p:txBody>
      </p:sp>
      <p:sp>
        <p:nvSpPr>
          <p:cNvPr id="272" name="Google Shape;272;p35"/>
          <p:cNvSpPr/>
          <p:nvPr/>
        </p:nvSpPr>
        <p:spPr>
          <a:xfrm>
            <a:off x="3902943" y="4327252"/>
            <a:ext cx="4767114" cy="340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00"/>
              <a:buFont typeface="Sora Light"/>
              <a:buNone/>
            </a:pPr>
            <a:r>
              <a:rPr b="0" i="0" lang="en" sz="9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Biến đổi không gian khả vi; Photometric Loss đo chênh lệch pixel-to-pixel giữa ảnh đích và ảnh nguồn đã warp.</a:t>
            </a:r>
            <a:endParaRPr b="0" i="0" sz="900" u="none" cap="none" strike="noStrike"/>
          </a:p>
        </p:txBody>
      </p:sp>
      <p:pic>
        <p:nvPicPr>
          <p:cNvPr id="273" name="Google Shape;2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9675"/>
            <a:ext cx="3689025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6776" y="4516299"/>
            <a:ext cx="1026350" cy="6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/>
          <p:nvPr/>
        </p:nvSpPr>
        <p:spPr>
          <a:xfrm>
            <a:off x="473943" y="993502"/>
            <a:ext cx="7369001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 SemiBold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Siêu Tham Số &amp; Kết Quả Unsupervised</a:t>
            </a:r>
            <a:endParaRPr b="0" i="0" sz="2800" u="none" cap="none" strike="noStrike"/>
          </a:p>
        </p:txBody>
      </p:sp>
      <p:sp>
        <p:nvSpPr>
          <p:cNvPr id="281" name="Google Shape;281;p36"/>
          <p:cNvSpPr/>
          <p:nvPr/>
        </p:nvSpPr>
        <p:spPr>
          <a:xfrm>
            <a:off x="473943" y="1777380"/>
            <a:ext cx="3535635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Cấu Hình Huấn Luyện (250 Epoch)</a:t>
            </a:r>
            <a:endParaRPr b="0" i="0" sz="1400" u="none" cap="none" strike="noStrike"/>
          </a:p>
        </p:txBody>
      </p:sp>
      <p:sp>
        <p:nvSpPr>
          <p:cNvPr id="282" name="Google Shape;282;p36"/>
          <p:cNvSpPr/>
          <p:nvPr/>
        </p:nvSpPr>
        <p:spPr>
          <a:xfrm>
            <a:off x="473943" y="2152352"/>
            <a:ext cx="1898749" cy="854943"/>
          </a:xfrm>
          <a:prstGeom prst="roundRect">
            <a:avLst>
              <a:gd fmla="val 665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6"/>
          <p:cNvSpPr/>
          <p:nvPr/>
        </p:nvSpPr>
        <p:spPr>
          <a:xfrm>
            <a:off x="614065" y="2292474"/>
            <a:ext cx="161850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Epochs</a:t>
            </a:r>
            <a:endParaRPr b="0" i="0" sz="1400" u="none" cap="none" strike="noStrike"/>
          </a:p>
        </p:txBody>
      </p:sp>
      <p:sp>
        <p:nvSpPr>
          <p:cNvPr id="284" name="Google Shape;284;p36"/>
          <p:cNvSpPr/>
          <p:nvPr/>
        </p:nvSpPr>
        <p:spPr>
          <a:xfrm>
            <a:off x="614065" y="2650480"/>
            <a:ext cx="1618506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250</a:t>
            </a:r>
            <a:endParaRPr b="0" i="0" sz="1050" u="none" cap="none" strike="noStrike"/>
          </a:p>
        </p:txBody>
      </p:sp>
      <p:sp>
        <p:nvSpPr>
          <p:cNvPr id="285" name="Google Shape;285;p36"/>
          <p:cNvSpPr/>
          <p:nvPr/>
        </p:nvSpPr>
        <p:spPr>
          <a:xfrm>
            <a:off x="2508052" y="2152352"/>
            <a:ext cx="1898749" cy="854943"/>
          </a:xfrm>
          <a:prstGeom prst="roundRect">
            <a:avLst>
              <a:gd fmla="val 665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2648173" y="2292474"/>
            <a:ext cx="161850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Learning Rate</a:t>
            </a:r>
            <a:endParaRPr b="0" i="0" sz="1400" u="none" cap="none" strike="noStrike"/>
          </a:p>
        </p:txBody>
      </p:sp>
      <p:sp>
        <p:nvSpPr>
          <p:cNvPr id="287" name="Google Shape;287;p36"/>
          <p:cNvSpPr/>
          <p:nvPr/>
        </p:nvSpPr>
        <p:spPr>
          <a:xfrm>
            <a:off x="2648173" y="2650480"/>
            <a:ext cx="1618506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1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1 \times 10^{-4}</a:t>
            </a:r>
            <a:endParaRPr b="0" i="0" sz="1050" u="none" cap="none" strike="noStrike"/>
          </a:p>
        </p:txBody>
      </p:sp>
      <p:sp>
        <p:nvSpPr>
          <p:cNvPr id="288" name="Google Shape;288;p36"/>
          <p:cNvSpPr/>
          <p:nvPr/>
        </p:nvSpPr>
        <p:spPr>
          <a:xfrm>
            <a:off x="473943" y="3142655"/>
            <a:ext cx="1898749" cy="854943"/>
          </a:xfrm>
          <a:prstGeom prst="roundRect">
            <a:avLst>
              <a:gd fmla="val 665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614065" y="3282776"/>
            <a:ext cx="161850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Batch Size</a:t>
            </a:r>
            <a:endParaRPr b="0" i="0" sz="1400" u="none" cap="none" strike="noStrike"/>
          </a:p>
        </p:txBody>
      </p:sp>
      <p:sp>
        <p:nvSpPr>
          <p:cNvPr id="290" name="Google Shape;290;p36"/>
          <p:cNvSpPr/>
          <p:nvPr/>
        </p:nvSpPr>
        <p:spPr>
          <a:xfrm>
            <a:off x="614065" y="3640782"/>
            <a:ext cx="1618506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64</a:t>
            </a:r>
            <a:endParaRPr b="0" i="0" sz="1050" u="none" cap="none" strike="noStrike"/>
          </a:p>
        </p:txBody>
      </p:sp>
      <p:sp>
        <p:nvSpPr>
          <p:cNvPr id="291" name="Google Shape;291;p36"/>
          <p:cNvSpPr/>
          <p:nvPr/>
        </p:nvSpPr>
        <p:spPr>
          <a:xfrm>
            <a:off x="2508052" y="3142655"/>
            <a:ext cx="1898749" cy="854943"/>
          </a:xfrm>
          <a:prstGeom prst="roundRect">
            <a:avLst>
              <a:gd fmla="val 6652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6"/>
          <p:cNvSpPr/>
          <p:nvPr/>
        </p:nvSpPr>
        <p:spPr>
          <a:xfrm>
            <a:off x="2648173" y="3282776"/>
            <a:ext cx="161850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Optimizer</a:t>
            </a:r>
            <a:endParaRPr b="0" i="0" sz="1400" u="none" cap="none" strike="noStrike"/>
          </a:p>
        </p:txBody>
      </p:sp>
      <p:sp>
        <p:nvSpPr>
          <p:cNvPr id="293" name="Google Shape;293;p36"/>
          <p:cNvSpPr/>
          <p:nvPr/>
        </p:nvSpPr>
        <p:spPr>
          <a:xfrm>
            <a:off x="2648173" y="3640782"/>
            <a:ext cx="1618506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Adam</a:t>
            </a:r>
            <a:endParaRPr b="0" i="0" sz="1050" u="none" cap="none" strike="noStrike"/>
          </a:p>
        </p:txBody>
      </p:sp>
      <p:sp>
        <p:nvSpPr>
          <p:cNvPr id="294" name="Google Shape;294;p36"/>
          <p:cNvSpPr/>
          <p:nvPr/>
        </p:nvSpPr>
        <p:spPr>
          <a:xfrm>
            <a:off x="4741962" y="1777380"/>
            <a:ext cx="244413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 SemiBold"/>
              <a:buNone/>
            </a:pPr>
            <a:r>
              <a:rPr b="0" i="0" lang="en" sz="1400" u="none" cap="none" strike="noStrike">
                <a:solidFill>
                  <a:srgbClr val="1F1E1E"/>
                </a:solidFill>
                <a:latin typeface="Alexandria SemiBold"/>
                <a:ea typeface="Alexandria SemiBold"/>
                <a:cs typeface="Alexandria SemiBold"/>
                <a:sym typeface="Alexandria SemiBold"/>
              </a:rPr>
              <a:t>Kết Quả Thực Nghiệm</a:t>
            </a:r>
            <a:endParaRPr b="0" i="0" sz="1400" u="none" cap="none" strike="noStrike"/>
          </a:p>
        </p:txBody>
      </p:sp>
      <p:sp>
        <p:nvSpPr>
          <p:cNvPr id="295" name="Google Shape;295;p36"/>
          <p:cNvSpPr/>
          <p:nvPr/>
        </p:nvSpPr>
        <p:spPr>
          <a:xfrm>
            <a:off x="4741962" y="2135386"/>
            <a:ext cx="3932858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Đường cong loss giảm ổn định qua 250 chu kỳ — mô-đun hình học khả vi Kornia truyền dẫn Gradient ngược thành công về các tầng CNN.</a:t>
            </a:r>
            <a:endParaRPr b="0" i="0" sz="1050" u="none" cap="none" strike="noStrike"/>
          </a:p>
        </p:txBody>
      </p:sp>
      <p:sp>
        <p:nvSpPr>
          <p:cNvPr id="296" name="Google Shape;296;p36"/>
          <p:cNvSpPr/>
          <p:nvPr/>
        </p:nvSpPr>
        <p:spPr>
          <a:xfrm>
            <a:off x="4741962" y="2937793"/>
            <a:ext cx="3932858" cy="791989"/>
          </a:xfrm>
          <a:prstGeom prst="roundRect">
            <a:avLst>
              <a:gd fmla="val 7181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7321" y="3140869"/>
            <a:ext cx="169218" cy="1353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6"/>
          <p:cNvSpPr/>
          <p:nvPr/>
        </p:nvSpPr>
        <p:spPr>
          <a:xfrm>
            <a:off x="5181898" y="3106936"/>
            <a:ext cx="3357563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ora Light"/>
              <a:buNone/>
            </a:pPr>
            <a:r>
              <a:rPr b="0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Mô hình tự điều chỉnh bộ lọc nhận diện cấu trúc biên ảnh </a:t>
            </a:r>
            <a:r>
              <a:rPr b="1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mà không cần nhãn Ground Truth</a:t>
            </a:r>
            <a:r>
              <a:rPr b="0" i="0" lang="en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 b="0" i="0" sz="1050" u="none" cap="none" strike="noStrike"/>
          </a:p>
        </p:txBody>
      </p:sp>
      <p:pic>
        <p:nvPicPr>
          <p:cNvPr id="299" name="Google Shape;29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400" y="4593798"/>
            <a:ext cx="1371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